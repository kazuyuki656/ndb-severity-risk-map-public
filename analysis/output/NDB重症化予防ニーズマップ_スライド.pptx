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E54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3A5A8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74520"/>
            <a:ext cx="146304" cy="22860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NDB第10回オープンデータ分析レポート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二次医療圏別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重症化予防ニーズマップの構築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特定健診データに基づく地域別リスク層別化の試み 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糖尿病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CKD（慢性腎臓病）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心血管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335 二次医療圏  |  8 検査指標  |  2022年度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 ― なぜ地域別の重症化予防ニーズか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60350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69164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864"/>
                </a:solidFill>
              </a:rPr>
              <a:t>課題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63238"/>
                </a:solidFill>
              </a:rPr>
              <a:t>生活習慣病の重症化（透析導入・心血管イベント）は医療費とQOLに大きな影響。多くは特定健診の検査値異常の段階で介入可能。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864"/>
                </a:solidFill>
              </a:rPr>
              <a:t>地域差という壁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63238"/>
                </a:solidFill>
              </a:rPr>
              <a:t>食習慣・受診行動・人口構成・医療資源は地域で異なり、画一的な介入は非効率。限られた保健事業リソースを活かすには「どこで・どの疾患のリスクが高いか」の可視化が不可欠。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864"/>
                </a:solidFill>
              </a:rPr>
              <a:t>NDBオープンデータの活用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悉皆性の高い全国の特定健診集計値を二次医療圏単位で提供。地域診断の基盤として有用。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1417320"/>
            <a:ext cx="4663440" cy="4846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本分析の目的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223760" y="2468880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2377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二次医療圏別の重症化リスクを定量的に層別化する指標を設計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3675888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35844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糖尿病・CKD・心血管の3領域＋複合スコアを算出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4882896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8120" y="4791456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地域ごとのリスクプロファイルの差異を可視化し、保健事業の優先度判断に資する基礎情報を提供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 ― データとスコアリング手法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27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417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データソース   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厚生労働省 第10回NDBオープンデータ／2022年度 特定健診（原則40〜74歳）／二次医療圏単位の集計表（全335圏域）／最大指標HbA1cで約2,292万人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97480"/>
            <a:ext cx="3429000" cy="4572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糖尿病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HbA1c ≧ 6.5%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空腹時血糖 ≧ 126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2544" y="26974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2544" y="2697480"/>
            <a:ext cx="34290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4352544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CKD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1144" y="3291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eGFR &lt; 60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尿蛋白 (＋)以上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65008" y="26974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697480"/>
            <a:ext cx="3429000" cy="4572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心血管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93608" y="3291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収縮期血圧 ≧ 140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LDL ≧ 140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中性脂肪 ≧ 150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心電図 所見あり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スコアリング手順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9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リスク該当率を算出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27248" y="5120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496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01568" y="51206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93008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9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偏差値化（平均50・SD10）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88736" y="5120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496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63056" y="51206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54496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9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領域内平均＝領域スコア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50224" y="51206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496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24544" y="512064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E54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015984" y="5120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9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3領域平均＝複合スコア → 5ティア層別化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結果① ― 検査項目別の全国リスク該当率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65836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D:\★研究★\株式会社PREVENT\analysis\output\fig2_indicator_r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6217920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8080" y="214884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0" y="2148840"/>
            <a:ext cx="91440" cy="1143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22585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心電図(30.6%)・LDL(27.7%)・収縮期血圧(20.6%)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が高頻度。尿蛋白(3.4%)が最少。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0" y="347472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3474720"/>
            <a:ext cx="91440" cy="1143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5" name="Text 12"/>
          <p:cNvSpPr/>
          <p:nvPr/>
        </p:nvSpPr>
        <p:spPr>
          <a:xfrm>
            <a:off x="7726680" y="35844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eGFR・収縮期血圧で圏域間SDが大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地域差が顕著な指標。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98080" y="480060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0" y="4800600"/>
            <a:ext cx="91440" cy="1143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4910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心電図はSD12.8と極端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検査実施率の地域差を反映、解釈注意。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結果② ― 重症化リスク上位の二次医療圏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42900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361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複合スコア平均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1463040"/>
            <a:ext cx="342900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5361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36.5–70.2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35424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スコア範囲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1463040"/>
            <a:ext cx="342900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5361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47888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高リスク圏域(上位20%)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315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651760"/>
                <a:gridCol w="960120"/>
                <a:gridCol w="960120"/>
                <a:gridCol w="960120"/>
                <a:gridCol w="960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順位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二次医療圏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糖尿病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CKD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心血管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5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新潟県 佐渡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64.0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87.5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59.1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沖縄県 宮古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68.9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83.2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高知県 安芸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70.5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57.7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68.5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青森県 八戸地域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76.2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鹿児島県 曽於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62.4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77.2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61.8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沖縄県 八重山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62.3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69.7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321040" y="2697480"/>
            <a:ext cx="3246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2697480"/>
            <a:ext cx="3246120" cy="457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697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傾向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49640" y="3337560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離島・地方圏に集中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佐渡・宮古・奄美などの離島、青森・鹿児島・高知などの地方が上位。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低リスクは大都市部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東京都内圏域・神奈川北部が下位。受診率・年齢構成の影響を含む。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結果③ ― 3疾患領域は相互に独立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64008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D:\★研究★\株式会社PREVENT\analysis\output\fig3_domain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94560"/>
            <a:ext cx="612648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5029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各点＝二次医療圏（n=335）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ドメイン間相関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23760" y="2103120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21031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糖尿病 × 心血管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0" y="21031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 = 0.39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789920" y="210312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中程度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2816352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28163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糖尿病 × CKD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0" y="281635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 = 0.10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789920" y="281635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3529584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35295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CKD × 心血管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0" y="352958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 = 0.10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789920" y="352958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23760" y="4526280"/>
            <a:ext cx="4343400" cy="17373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Shape 21"/>
          <p:cNvSpPr/>
          <p:nvPr/>
        </p:nvSpPr>
        <p:spPr>
          <a:xfrm>
            <a:off x="7223760" y="4526280"/>
            <a:ext cx="109728" cy="17373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0" y="47091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85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最重要の発見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複合スコアが同程度でも、地域ごとにリスク構造（糖尿病優位／CKD優位／心血管優位）は異なる。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結果④ ― 年齢・性別調整で地域差の見え方が変わる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68122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D:\★研究★\株式会社PREVENT\analysis\output\fig4_choropleth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54480"/>
            <a:ext cx="6537960" cy="3337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02920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左：粗スコア ／ 右：年齢・性別調整スコア（色が濃いほど高リスク）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1417320"/>
            <a:ext cx="3931920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1481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ρ = 0.62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1812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 vs 調整スコアの順位相関（Spearman）→ 順位は大きく変動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35240" y="2606040"/>
            <a:ext cx="39319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35240" y="2606040"/>
            <a:ext cx="109728" cy="24231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27889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年齢構成の交絡を補正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粗スコアの「西高東低」の相当部分は、地方圏の高齢者割合の高さを反映していた。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調整後も上位を維持する圏域こそ、年齢では説明できない真の高リスク地域。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440680"/>
            <a:ext cx="3429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5440680"/>
            <a:ext cx="3429000" cy="411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高齢構成で過大評価</a:t>
            </a:r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調整で下落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589788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熱海伊東 20→298位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萩 51→316位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沼田 18→257位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52544" y="5440680"/>
            <a:ext cx="3429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5440680"/>
            <a:ext cx="3429000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19"/>
          <p:cNvSpPr/>
          <p:nvPr/>
        </p:nvSpPr>
        <p:spPr>
          <a:xfrm>
            <a:off x="4489704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若年構成で過小評価</a:t>
            </a:r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調整で上昇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35424" y="589788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つくば 280→125位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大阪市 271→117位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仙台 236→87位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65008" y="5440680"/>
            <a:ext cx="3429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65008" y="5440680"/>
            <a:ext cx="3429000" cy="411480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26" name="Text 23"/>
          <p:cNvSpPr/>
          <p:nvPr/>
        </p:nvSpPr>
        <p:spPr>
          <a:xfrm>
            <a:off x="8202168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真の高リスク</a:t>
            </a:r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調整後も上位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47888" y="589788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八戸地域 1位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茨城・日立 2位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新潟・佐渡 3位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4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6766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考察 ― 示唆と限界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394960" cy="50292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実務への示唆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53949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ターゲティング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6243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領域が突出する圏域に特化型プログラムを優先導入（CKD優位の佐渡・宮古、糖尿病優位の曽於・八戸）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3949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630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提案の定量化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9959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「貴地域はeGFR低下が全国上位」など偏差値ベースの客観的根拠を提示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3949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資源配分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367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圏域間SDが大きいeGFR・血圧は地域選定による事業効率の改善余地が大きい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5212080" cy="502920"/>
          </a:xfrm>
          <a:prstGeom prst="rect">
            <a:avLst/>
          </a:prstGeom>
          <a:solidFill>
            <a:srgbClr val="8A4B2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限界（解釈上の留意点）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2148840"/>
            <a:ext cx="52120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2331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3317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受診者バイアス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対象は健診受診者のみ。受診率の地域差が大都市の低スコアに影響しうる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298094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980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検査実施率の偏り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心電図(36万)・eGFR(254万)は対象者が少なく、心電図SDは極端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36301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36301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秘匿セルの扱い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10未満セルを0処理。小規模圏域(離島)でスコアが不安定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2793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42793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年齢調整の残存課題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直接法で年齢・性別を調整済。基準集団選択と階級内構成差は残る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49286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49286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断面データ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2022年度単年。因果・経時変化は評価不可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55778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5A30"/>
                </a:solidFill>
              </a:rPr>
              <a:t>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5577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スコア設計の任意性  </a:t>
            </a:r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単純平均で重みづけなし。閾値設定で結果は変動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E54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804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2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0607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全国335二次医療圏の重症化リスクを3領域で複合スコア化する地域診断の枠組みを構築した。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212080" cy="1325880"/>
          </a:xfrm>
          <a:prstGeom prst="rect">
            <a:avLst/>
          </a:prstGeom>
          <a:solidFill>
            <a:srgbClr val="29406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26080"/>
            <a:ext cx="109728" cy="13258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地域差の多くは年齢構成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粗の地域差の相当部分は高齢化の交絡。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5212080" cy="1325880"/>
          </a:xfrm>
          <a:prstGeom prst="rect">
            <a:avLst/>
          </a:prstGeom>
          <a:solidFill>
            <a:srgbClr val="29406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926080"/>
            <a:ext cx="109728" cy="13258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真の高リスクを特定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調整後も上位の八戸・日立が優先対象。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212080" cy="1325880"/>
          </a:xfrm>
          <a:prstGeom prst="rect">
            <a:avLst/>
          </a:prstGeom>
          <a:solidFill>
            <a:srgbClr val="2940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480560"/>
            <a:ext cx="109728" cy="13258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領域は相互に独立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51389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地域ごとに固有のリスク構造を持つ。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480560"/>
            <a:ext cx="5212080" cy="1325880"/>
          </a:xfrm>
          <a:prstGeom prst="rect">
            <a:avLst/>
          </a:prstGeom>
          <a:solidFill>
            <a:srgbClr val="2940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4480560"/>
            <a:ext cx="109728" cy="13258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EBPMの基盤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51389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年齢調整済の地域診断で実務提案へ。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データ出典：厚生労働省 第10回NDBオープンデータ（2022年度 特定健診）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NDB重症化予防ニーズマップ</dc:title>
  <dc:subject>PptxGenJS Presentation</dc:subject>
  <dc:creator>Data Science</dc:creator>
  <cp:lastModifiedBy>Data Science</cp:lastModifiedBy>
  <cp:revision>1</cp:revision>
  <dcterms:created xsi:type="dcterms:W3CDTF">2026-06-13T13:43:20Z</dcterms:created>
  <dcterms:modified xsi:type="dcterms:W3CDTF">2026-06-13T13:43:20Z</dcterms:modified>
</cp:coreProperties>
</file>